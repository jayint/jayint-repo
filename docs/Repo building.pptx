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B8B0F9D-2C97-4F62-9EEF-1762C37F4BE6}">
  <a:tblStyle styleId="{7B8B0F9D-2C97-4F62-9EEF-1762C37F4BE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1794474f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1794474f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1794474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1794474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1794474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1794474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1794474f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1794474f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29a53092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f29a53092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29a53092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29a53092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29a53092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29a53092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29a53092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29a53092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29a530924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29a530924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29a530924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29a530924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29a53092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29a53092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0572591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0572591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057259128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057259128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0572591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0572591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29a5309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29a530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29a53092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29a53092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Screenshot 2026-06-20 at 12.38.4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"/>
            <a:ext cx="9144003" cy="346918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562850" y="3671450"/>
            <a:ext cx="6156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Stores past experience, what failure have we seen before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89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Casual-Reasoning graph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Stores past experience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4" title="Screenshot 2026-06-20 at 12.34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088" y="952500"/>
            <a:ext cx="6059423" cy="2242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567300" y="3342425"/>
            <a:ext cx="5715000" cy="7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Stores cause-and-effect, why did the failure happen?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Why?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Because currently, agents such as Repo2Run are “trial-and-error” where they fix local problems it encounters iterative until global </a:t>
            </a:r>
            <a:r>
              <a:rPr lang="en-GB"/>
              <a:t>completion</a:t>
            </a:r>
            <a:r>
              <a:rPr lang="en-GB"/>
              <a:t>. However, they miss that the system is an interdepedent success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-GB"/>
              <a:t>My approach introduces a graph-structured repair memory that separates factual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planner-facing obligations. The graph records what the repository needs to run, which runtime blockers violate those needs, and which repair attempts have already targeted them.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ESSR-Success criteria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need to change when the agent determines it should stop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Old: Agent must continue until 80% of the tests have been correctly executed. Many “partial” success not counted. I.e. a environment can be built to have 60% test pass, but not accepted, leading to low ESSR score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1596775" y="2249875"/>
            <a:ext cx="1264500" cy="771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</a:t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4014125" y="1721575"/>
            <a:ext cx="1964400" cy="18285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Repository Requirements</a:t>
            </a:r>
            <a:endParaRPr/>
          </a:p>
        </p:txBody>
      </p:sp>
      <p:cxnSp>
        <p:nvCxnSpPr>
          <p:cNvPr id="84" name="Google Shape;84;p17"/>
          <p:cNvCxnSpPr>
            <a:stCxn id="82" idx="0"/>
            <a:endCxn id="83" idx="1"/>
          </p:cNvCxnSpPr>
          <p:nvPr/>
        </p:nvCxnSpPr>
        <p:spPr>
          <a:xfrm flipH="1" rot="10800000">
            <a:off x="2229025" y="1989475"/>
            <a:ext cx="2072700" cy="2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7"/>
          <p:cNvCxnSpPr>
            <a:stCxn id="83" idx="3"/>
            <a:endCxn id="82" idx="2"/>
          </p:cNvCxnSpPr>
          <p:nvPr/>
        </p:nvCxnSpPr>
        <p:spPr>
          <a:xfrm rot="10800000">
            <a:off x="2229105" y="3021897"/>
            <a:ext cx="2072700" cy="26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7"/>
          <p:cNvSpPr txBox="1"/>
          <p:nvPr/>
        </p:nvSpPr>
        <p:spPr>
          <a:xfrm>
            <a:off x="2689725" y="1564825"/>
            <a:ext cx="16101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Pip install -e 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512575" y="3264925"/>
            <a:ext cx="1964400" cy="5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Module not found: Numpy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6210300" y="736600"/>
            <a:ext cx="2552700" cy="22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Most Docker Environment setup agent are reactive: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They run an action, and decide what to do based off what they observe (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184975" y="1564825"/>
            <a:ext cx="1411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Agent: </a:t>
            </a:r>
            <a:r>
              <a:rPr lang="en-GB" sz="1300">
                <a:solidFill>
                  <a:schemeClr val="dk1"/>
                </a:solidFill>
              </a:rPr>
              <a:t>“Missing numpy, install next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/>
        </p:nvSpPr>
        <p:spPr>
          <a:xfrm>
            <a:off x="558800" y="812800"/>
            <a:ext cx="4013100" cy="3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This reasoning format leads to agent stuck in a trial-and-error format, where they iteratively fix local bugs in the hope of finding global solution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But in fact, of environment setup procedurals and information is quiet </a:t>
            </a:r>
            <a:r>
              <a:rPr lang="en-GB" sz="1800">
                <a:solidFill>
                  <a:schemeClr val="dk2"/>
                </a:solidFill>
              </a:rPr>
              <a:t>deterministic</a:t>
            </a:r>
            <a:r>
              <a:rPr lang="en-GB" sz="1800">
                <a:solidFill>
                  <a:schemeClr val="dk2"/>
                </a:solidFill>
              </a:rPr>
              <a:t>, but rather needs mining + structured representation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5" name="Google Shape;95;p18"/>
          <p:cNvCxnSpPr/>
          <p:nvPr/>
        </p:nvCxnSpPr>
        <p:spPr>
          <a:xfrm>
            <a:off x="4692325" y="2155650"/>
            <a:ext cx="1353600" cy="9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" name="Google Shape;96;p18"/>
          <p:cNvSpPr txBox="1"/>
          <p:nvPr/>
        </p:nvSpPr>
        <p:spPr>
          <a:xfrm>
            <a:off x="6116050" y="1203150"/>
            <a:ext cx="2727300" cy="25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Environment graph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Structured </a:t>
            </a:r>
            <a:r>
              <a:rPr lang="en-GB" sz="1800">
                <a:solidFill>
                  <a:schemeClr val="dk2"/>
                </a:solidFill>
              </a:rPr>
              <a:t>representation</a:t>
            </a:r>
            <a:r>
              <a:rPr lang="en-GB" sz="1800">
                <a:solidFill>
                  <a:schemeClr val="dk2"/>
                </a:solidFill>
              </a:rPr>
              <a:t> of what is needed to setup an environment. Guides agent on execution and debugging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/>
          <p:nvPr/>
        </p:nvSpPr>
        <p:spPr>
          <a:xfrm>
            <a:off x="3178800" y="475325"/>
            <a:ext cx="1892400" cy="55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flask 3.1.3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1289350" y="20211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werkzeug 3.1.8</a:t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3300300" y="20211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8.3.2</a:t>
            </a:r>
            <a:endParaRPr/>
          </a:p>
        </p:txBody>
      </p:sp>
      <p:sp>
        <p:nvSpPr>
          <p:cNvPr id="104" name="Google Shape;104;p19"/>
          <p:cNvSpPr/>
          <p:nvPr/>
        </p:nvSpPr>
        <p:spPr>
          <a:xfrm>
            <a:off x="5311250" y="20211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blinker 1.9.0</a:t>
            </a:r>
            <a:endParaRPr/>
          </a:p>
        </p:txBody>
      </p:sp>
      <p:cxnSp>
        <p:nvCxnSpPr>
          <p:cNvPr id="105" name="Google Shape;105;p19"/>
          <p:cNvCxnSpPr>
            <a:stCxn id="101" idx="1"/>
            <a:endCxn id="102" idx="0"/>
          </p:cNvCxnSpPr>
          <p:nvPr/>
        </p:nvCxnSpPr>
        <p:spPr>
          <a:xfrm flipH="1">
            <a:off x="2114100" y="754775"/>
            <a:ext cx="1064700" cy="12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" name="Google Shape;106;p19"/>
          <p:cNvCxnSpPr>
            <a:stCxn id="101" idx="2"/>
            <a:endCxn id="103" idx="0"/>
          </p:cNvCxnSpPr>
          <p:nvPr/>
        </p:nvCxnSpPr>
        <p:spPr>
          <a:xfrm>
            <a:off x="4125000" y="1034225"/>
            <a:ext cx="0" cy="98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" name="Google Shape;107;p19"/>
          <p:cNvCxnSpPr>
            <a:stCxn id="101" idx="3"/>
            <a:endCxn id="104" idx="0"/>
          </p:cNvCxnSpPr>
          <p:nvPr/>
        </p:nvCxnSpPr>
        <p:spPr>
          <a:xfrm>
            <a:off x="5071200" y="754775"/>
            <a:ext cx="1064700" cy="12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" name="Google Shape;108;p19"/>
          <p:cNvSpPr txBox="1"/>
          <p:nvPr/>
        </p:nvSpPr>
        <p:spPr>
          <a:xfrm>
            <a:off x="2075450" y="1138375"/>
            <a:ext cx="1103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requires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398725" y="1203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requires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5648100" y="11383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requires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11" name="Google Shape;111;p19"/>
          <p:cNvCxnSpPr>
            <a:stCxn id="102" idx="2"/>
          </p:cNvCxnSpPr>
          <p:nvPr/>
        </p:nvCxnSpPr>
        <p:spPr>
          <a:xfrm>
            <a:off x="2114050" y="2462450"/>
            <a:ext cx="336600" cy="9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2" name="Google Shape;112;p19"/>
          <p:cNvCxnSpPr>
            <a:stCxn id="103" idx="2"/>
          </p:cNvCxnSpPr>
          <p:nvPr/>
        </p:nvCxnSpPr>
        <p:spPr>
          <a:xfrm flipH="1">
            <a:off x="2798100" y="2462450"/>
            <a:ext cx="1326900" cy="9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3" name="Google Shape;113;p19"/>
          <p:cNvSpPr/>
          <p:nvPr/>
        </p:nvSpPr>
        <p:spPr>
          <a:xfrm>
            <a:off x="1749325" y="33933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jinja2 3.1.6</a:t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3724550" y="3393350"/>
            <a:ext cx="520500" cy="441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7155325" y="2021150"/>
            <a:ext cx="520500" cy="441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5403350" y="534125"/>
            <a:ext cx="520500" cy="441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17" name="Google Shape;117;p19"/>
          <p:cNvSpPr txBox="1"/>
          <p:nvPr/>
        </p:nvSpPr>
        <p:spPr>
          <a:xfrm>
            <a:off x="4635950" y="2776100"/>
            <a:ext cx="30000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Topological sort + SAT solving is used by package managers such as uv for automated installation, and version pinning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Resolved based off base image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0"/>
          <p:cNvSpPr/>
          <p:nvPr/>
        </p:nvSpPr>
        <p:spPr>
          <a:xfrm>
            <a:off x="1299190" y="1784175"/>
            <a:ext cx="1150800" cy="3399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flask 3.1.3</a:t>
            </a:r>
            <a:endParaRPr sz="851"/>
          </a:p>
        </p:txBody>
      </p:sp>
      <p:sp>
        <p:nvSpPr>
          <p:cNvPr id="123" name="Google Shape;123;p20"/>
          <p:cNvSpPr/>
          <p:nvPr/>
        </p:nvSpPr>
        <p:spPr>
          <a:xfrm>
            <a:off x="77075" y="2724296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werkzeug 3.1.8</a:t>
            </a:r>
            <a:endParaRPr sz="851"/>
          </a:p>
        </p:txBody>
      </p:sp>
      <p:sp>
        <p:nvSpPr>
          <p:cNvPr id="124" name="Google Shape;124;p20"/>
          <p:cNvSpPr/>
          <p:nvPr/>
        </p:nvSpPr>
        <p:spPr>
          <a:xfrm>
            <a:off x="1300072" y="2724296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click 8.3.2</a:t>
            </a:r>
            <a:endParaRPr sz="851"/>
          </a:p>
        </p:txBody>
      </p:sp>
      <p:sp>
        <p:nvSpPr>
          <p:cNvPr id="125" name="Google Shape;125;p20"/>
          <p:cNvSpPr/>
          <p:nvPr/>
        </p:nvSpPr>
        <p:spPr>
          <a:xfrm>
            <a:off x="2523068" y="2724296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blinker 1.9.0</a:t>
            </a:r>
            <a:endParaRPr sz="851"/>
          </a:p>
        </p:txBody>
      </p:sp>
      <p:cxnSp>
        <p:nvCxnSpPr>
          <p:cNvPr id="126" name="Google Shape;126;p20"/>
          <p:cNvCxnSpPr>
            <a:stCxn id="122" idx="1"/>
            <a:endCxn id="123" idx="0"/>
          </p:cNvCxnSpPr>
          <p:nvPr/>
        </p:nvCxnSpPr>
        <p:spPr>
          <a:xfrm flipH="1">
            <a:off x="578590" y="1954125"/>
            <a:ext cx="720600" cy="770100"/>
          </a:xfrm>
          <a:prstGeom prst="straightConnector1">
            <a:avLst/>
          </a:prstGeom>
          <a:noFill/>
          <a:ln cap="flat" cmpd="sng" w="5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20"/>
          <p:cNvCxnSpPr>
            <a:stCxn id="122" idx="2"/>
            <a:endCxn id="124" idx="0"/>
          </p:cNvCxnSpPr>
          <p:nvPr/>
        </p:nvCxnSpPr>
        <p:spPr>
          <a:xfrm flipH="1">
            <a:off x="1801690" y="2124075"/>
            <a:ext cx="72900" cy="600300"/>
          </a:xfrm>
          <a:prstGeom prst="straightConnector1">
            <a:avLst/>
          </a:prstGeom>
          <a:noFill/>
          <a:ln cap="flat" cmpd="sng" w="5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p20"/>
          <p:cNvCxnSpPr>
            <a:stCxn id="122" idx="3"/>
            <a:endCxn id="125" idx="0"/>
          </p:cNvCxnSpPr>
          <p:nvPr/>
        </p:nvCxnSpPr>
        <p:spPr>
          <a:xfrm>
            <a:off x="2449990" y="1954125"/>
            <a:ext cx="574800" cy="770100"/>
          </a:xfrm>
          <a:prstGeom prst="straightConnector1">
            <a:avLst/>
          </a:prstGeom>
          <a:noFill/>
          <a:ln cap="flat" cmpd="sng" w="5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9" name="Google Shape;129;p20"/>
          <p:cNvCxnSpPr>
            <a:stCxn id="123" idx="2"/>
          </p:cNvCxnSpPr>
          <p:nvPr/>
        </p:nvCxnSpPr>
        <p:spPr>
          <a:xfrm>
            <a:off x="578675" y="2992796"/>
            <a:ext cx="204600" cy="566100"/>
          </a:xfrm>
          <a:prstGeom prst="straightConnector1">
            <a:avLst/>
          </a:prstGeom>
          <a:noFill/>
          <a:ln cap="flat" cmpd="sng" w="5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0"/>
          <p:cNvCxnSpPr>
            <a:stCxn id="124" idx="2"/>
          </p:cNvCxnSpPr>
          <p:nvPr/>
        </p:nvCxnSpPr>
        <p:spPr>
          <a:xfrm flipH="1">
            <a:off x="994972" y="2992796"/>
            <a:ext cx="806700" cy="566100"/>
          </a:xfrm>
          <a:prstGeom prst="straightConnector1">
            <a:avLst/>
          </a:prstGeom>
          <a:noFill/>
          <a:ln cap="flat" cmpd="sng" w="58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1" name="Google Shape;131;p20"/>
          <p:cNvSpPr/>
          <p:nvPr/>
        </p:nvSpPr>
        <p:spPr>
          <a:xfrm>
            <a:off x="356817" y="3558825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jinja2 3.1.6</a:t>
            </a:r>
            <a:endParaRPr sz="851"/>
          </a:p>
        </p:txBody>
      </p:sp>
      <p:sp>
        <p:nvSpPr>
          <p:cNvPr id="132" name="Google Shape;132;p20"/>
          <p:cNvSpPr txBox="1"/>
          <p:nvPr/>
        </p:nvSpPr>
        <p:spPr>
          <a:xfrm>
            <a:off x="3768575" y="289900"/>
            <a:ext cx="19464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2724125" y="382550"/>
            <a:ext cx="1946400" cy="49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Project</a:t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4823315" y="1784175"/>
            <a:ext cx="1150800" cy="3399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requests 2.33.0</a:t>
            </a:r>
            <a:endParaRPr sz="851"/>
          </a:p>
        </p:txBody>
      </p:sp>
      <p:sp>
        <p:nvSpPr>
          <p:cNvPr id="135" name="Google Shape;135;p20"/>
          <p:cNvSpPr/>
          <p:nvPr/>
        </p:nvSpPr>
        <p:spPr>
          <a:xfrm>
            <a:off x="4181443" y="2786596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urllib3 2.6.3</a:t>
            </a:r>
            <a:endParaRPr sz="851"/>
          </a:p>
        </p:txBody>
      </p:sp>
      <p:sp>
        <p:nvSpPr>
          <p:cNvPr id="136" name="Google Shape;136;p20"/>
          <p:cNvSpPr/>
          <p:nvPr/>
        </p:nvSpPr>
        <p:spPr>
          <a:xfrm>
            <a:off x="5498018" y="2786596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certifi 2026.2.25</a:t>
            </a:r>
            <a:endParaRPr sz="851"/>
          </a:p>
        </p:txBody>
      </p:sp>
      <p:cxnSp>
        <p:nvCxnSpPr>
          <p:cNvPr id="137" name="Google Shape;137;p20"/>
          <p:cNvCxnSpPr>
            <a:stCxn id="134" idx="2"/>
            <a:endCxn id="135" idx="0"/>
          </p:cNvCxnSpPr>
          <p:nvPr/>
        </p:nvCxnSpPr>
        <p:spPr>
          <a:xfrm flipH="1">
            <a:off x="4682915" y="2124075"/>
            <a:ext cx="715800" cy="6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20"/>
          <p:cNvCxnSpPr>
            <a:stCxn id="134" idx="2"/>
            <a:endCxn id="136" idx="0"/>
          </p:cNvCxnSpPr>
          <p:nvPr/>
        </p:nvCxnSpPr>
        <p:spPr>
          <a:xfrm>
            <a:off x="5398715" y="2124075"/>
            <a:ext cx="600900" cy="66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20"/>
          <p:cNvSpPr/>
          <p:nvPr/>
        </p:nvSpPr>
        <p:spPr>
          <a:xfrm>
            <a:off x="3416293" y="3974721"/>
            <a:ext cx="1003200" cy="2685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schedule 1.2.1</a:t>
            </a:r>
            <a:endParaRPr sz="851"/>
          </a:p>
        </p:txBody>
      </p:sp>
      <p:cxnSp>
        <p:nvCxnSpPr>
          <p:cNvPr id="140" name="Google Shape;140;p20"/>
          <p:cNvCxnSpPr>
            <a:stCxn id="125" idx="2"/>
            <a:endCxn id="139" idx="0"/>
          </p:cNvCxnSpPr>
          <p:nvPr/>
        </p:nvCxnSpPr>
        <p:spPr>
          <a:xfrm>
            <a:off x="3024668" y="2992796"/>
            <a:ext cx="893100" cy="98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0"/>
          <p:cNvCxnSpPr>
            <a:stCxn id="136" idx="2"/>
            <a:endCxn id="139" idx="0"/>
          </p:cNvCxnSpPr>
          <p:nvPr/>
        </p:nvCxnSpPr>
        <p:spPr>
          <a:xfrm flipH="1">
            <a:off x="3917918" y="3055096"/>
            <a:ext cx="2081700" cy="91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0"/>
          <p:cNvCxnSpPr>
            <a:stCxn id="133" idx="2"/>
            <a:endCxn id="122" idx="0"/>
          </p:cNvCxnSpPr>
          <p:nvPr/>
        </p:nvCxnSpPr>
        <p:spPr>
          <a:xfrm flipH="1">
            <a:off x="1874525" y="879650"/>
            <a:ext cx="1822800" cy="9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0"/>
          <p:cNvCxnSpPr>
            <a:stCxn id="133" idx="2"/>
            <a:endCxn id="134" idx="0"/>
          </p:cNvCxnSpPr>
          <p:nvPr/>
        </p:nvCxnSpPr>
        <p:spPr>
          <a:xfrm>
            <a:off x="3697325" y="879650"/>
            <a:ext cx="1701300" cy="90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0"/>
          <p:cNvSpPr/>
          <p:nvPr/>
        </p:nvSpPr>
        <p:spPr>
          <a:xfrm>
            <a:off x="3121915" y="1766263"/>
            <a:ext cx="1150800" cy="339900"/>
          </a:xfrm>
          <a:prstGeom prst="rect">
            <a:avLst/>
          </a:prstGeom>
          <a:solidFill>
            <a:schemeClr val="lt2"/>
          </a:solidFill>
          <a:ln cap="flat" cmpd="sng" w="58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5600" lIns="55600" spcFirstLastPara="1" rIns="55600" wrap="square" tIns="55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1"/>
              <a:t>tqdm 4.66.3</a:t>
            </a:r>
            <a:endParaRPr sz="851"/>
          </a:p>
        </p:txBody>
      </p:sp>
      <p:cxnSp>
        <p:nvCxnSpPr>
          <p:cNvPr id="145" name="Google Shape;145;p20"/>
          <p:cNvCxnSpPr>
            <a:stCxn id="133" idx="2"/>
            <a:endCxn id="144" idx="0"/>
          </p:cNvCxnSpPr>
          <p:nvPr/>
        </p:nvCxnSpPr>
        <p:spPr>
          <a:xfrm>
            <a:off x="3697325" y="879650"/>
            <a:ext cx="0" cy="886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0"/>
          <p:cNvSpPr txBox="1"/>
          <p:nvPr/>
        </p:nvSpPr>
        <p:spPr>
          <a:xfrm>
            <a:off x="6501225" y="682400"/>
            <a:ext cx="26427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can use AST trees to identify the external packages the project imports: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Imports cv2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Cv2 -&gt; opencv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Pip install opencv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4572000" y="3717625"/>
            <a:ext cx="4685700" cy="11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2"/>
                </a:solidFill>
              </a:rPr>
              <a:t>Once we get the first order dependencies, we can give it to uv, which will automatically find the transitive dependencies and find compatible versions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/>
        </p:nvSpPr>
        <p:spPr>
          <a:xfrm>
            <a:off x="257950" y="803050"/>
            <a:ext cx="4129200" cy="3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However, such dependency graph is </a:t>
            </a:r>
            <a:r>
              <a:rPr lang="en-GB" sz="1800">
                <a:solidFill>
                  <a:schemeClr val="dk2"/>
                </a:solidFill>
              </a:rPr>
              <a:t>usually</a:t>
            </a:r>
            <a:r>
              <a:rPr lang="en-GB" sz="1800">
                <a:solidFill>
                  <a:schemeClr val="dk2"/>
                </a:solidFill>
              </a:rPr>
              <a:t> about, how do we successfully solve the dependency issues of a python program.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This is a subset of repository environment generation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Because </a:t>
            </a:r>
            <a:r>
              <a:rPr lang="en-GB" sz="1800">
                <a:solidFill>
                  <a:schemeClr val="dk2"/>
                </a:solidFill>
              </a:rPr>
              <a:t>only</a:t>
            </a:r>
            <a:r>
              <a:rPr lang="en-GB" sz="1800">
                <a:solidFill>
                  <a:schemeClr val="dk2"/>
                </a:solidFill>
              </a:rPr>
              <a:t> do we have to make the program resolve, we also have to build the environment to make it </a:t>
            </a:r>
            <a:r>
              <a:rPr lang="en-GB" sz="1800">
                <a:solidFill>
                  <a:schemeClr val="dk2"/>
                </a:solidFill>
              </a:rPr>
              <a:t>succeed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4910425" y="925300"/>
            <a:ext cx="3689400" cy="3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We also need to worry about:</a:t>
            </a:r>
            <a:br>
              <a:rPr lang="en-GB" sz="1800">
                <a:solidFill>
                  <a:schemeClr val="dk2"/>
                </a:solidFill>
              </a:rPr>
            </a:b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System Packages: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Runtime DB setup: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Environment Flags: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/>
          <p:nvPr/>
        </p:nvSpPr>
        <p:spPr>
          <a:xfrm>
            <a:off x="3298850" y="475325"/>
            <a:ext cx="1892400" cy="558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flask 3.1.3</a:t>
            </a:r>
            <a:endParaRPr/>
          </a:p>
        </p:txBody>
      </p:sp>
      <p:sp>
        <p:nvSpPr>
          <p:cNvPr id="159" name="Google Shape;159;p22"/>
          <p:cNvSpPr/>
          <p:nvPr/>
        </p:nvSpPr>
        <p:spPr>
          <a:xfrm>
            <a:off x="1289350" y="20211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werkzeug 3.1.8</a:t>
            </a:r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3300300" y="20211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click 8.3.2</a:t>
            </a:r>
            <a:endParaRPr/>
          </a:p>
        </p:txBody>
      </p:sp>
      <p:sp>
        <p:nvSpPr>
          <p:cNvPr id="161" name="Google Shape;161;p22"/>
          <p:cNvSpPr/>
          <p:nvPr/>
        </p:nvSpPr>
        <p:spPr>
          <a:xfrm>
            <a:off x="5311250" y="20211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blinker 1.9.0</a:t>
            </a:r>
            <a:endParaRPr/>
          </a:p>
        </p:txBody>
      </p:sp>
      <p:cxnSp>
        <p:nvCxnSpPr>
          <p:cNvPr id="162" name="Google Shape;162;p22"/>
          <p:cNvCxnSpPr>
            <a:stCxn id="158" idx="1"/>
            <a:endCxn id="159" idx="0"/>
          </p:cNvCxnSpPr>
          <p:nvPr/>
        </p:nvCxnSpPr>
        <p:spPr>
          <a:xfrm flipH="1">
            <a:off x="2114150" y="754775"/>
            <a:ext cx="1184700" cy="12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2"/>
          <p:cNvCxnSpPr>
            <a:stCxn id="158" idx="2"/>
            <a:endCxn id="160" idx="0"/>
          </p:cNvCxnSpPr>
          <p:nvPr/>
        </p:nvCxnSpPr>
        <p:spPr>
          <a:xfrm flipH="1">
            <a:off x="4125050" y="1034225"/>
            <a:ext cx="120000" cy="98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2"/>
          <p:cNvCxnSpPr>
            <a:stCxn id="158" idx="3"/>
            <a:endCxn id="161" idx="0"/>
          </p:cNvCxnSpPr>
          <p:nvPr/>
        </p:nvCxnSpPr>
        <p:spPr>
          <a:xfrm>
            <a:off x="5191250" y="754775"/>
            <a:ext cx="944700" cy="126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22"/>
          <p:cNvSpPr txBox="1"/>
          <p:nvPr/>
        </p:nvSpPr>
        <p:spPr>
          <a:xfrm>
            <a:off x="2075450" y="1138375"/>
            <a:ext cx="1103400" cy="1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requires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3590700" y="1203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requires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5648100" y="11383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requires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168" name="Google Shape;168;p22"/>
          <p:cNvCxnSpPr>
            <a:stCxn id="159" idx="2"/>
          </p:cNvCxnSpPr>
          <p:nvPr/>
        </p:nvCxnSpPr>
        <p:spPr>
          <a:xfrm>
            <a:off x="2114050" y="2462450"/>
            <a:ext cx="336600" cy="9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2"/>
          <p:cNvCxnSpPr>
            <a:stCxn id="160" idx="2"/>
          </p:cNvCxnSpPr>
          <p:nvPr/>
        </p:nvCxnSpPr>
        <p:spPr>
          <a:xfrm flipH="1">
            <a:off x="2798100" y="2462450"/>
            <a:ext cx="1326900" cy="930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0" name="Google Shape;170;p22"/>
          <p:cNvSpPr/>
          <p:nvPr/>
        </p:nvSpPr>
        <p:spPr>
          <a:xfrm>
            <a:off x="1749325" y="3393350"/>
            <a:ext cx="1649400" cy="44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jinja2 3.1.6</a:t>
            </a:r>
            <a:endParaRPr/>
          </a:p>
        </p:txBody>
      </p:sp>
      <p:sp>
        <p:nvSpPr>
          <p:cNvPr id="171" name="Google Shape;171;p22"/>
          <p:cNvSpPr/>
          <p:nvPr/>
        </p:nvSpPr>
        <p:spPr>
          <a:xfrm>
            <a:off x="6070200" y="3393350"/>
            <a:ext cx="520500" cy="441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/>
          </a:p>
        </p:txBody>
      </p:sp>
      <p:sp>
        <p:nvSpPr>
          <p:cNvPr id="172" name="Google Shape;172;p22"/>
          <p:cNvSpPr/>
          <p:nvPr/>
        </p:nvSpPr>
        <p:spPr>
          <a:xfrm>
            <a:off x="7155325" y="2021150"/>
            <a:ext cx="520500" cy="441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</a:t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>
            <a:off x="5403350" y="534125"/>
            <a:ext cx="520500" cy="441300"/>
          </a:xfrm>
          <a:prstGeom prst="ellipse">
            <a:avLst/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endParaRPr/>
          </a:p>
        </p:txBody>
      </p:sp>
      <p:sp>
        <p:nvSpPr>
          <p:cNvPr id="174" name="Google Shape;174;p22"/>
          <p:cNvSpPr/>
          <p:nvPr/>
        </p:nvSpPr>
        <p:spPr>
          <a:xfrm>
            <a:off x="4245050" y="3311000"/>
            <a:ext cx="1520700" cy="606000"/>
          </a:xfrm>
          <a:prstGeom prst="ellipse">
            <a:avLst/>
          </a:prstGeom>
          <a:solidFill>
            <a:srgbClr val="6FA8D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libGL.so.1</a:t>
            </a:r>
            <a:endParaRPr/>
          </a:p>
        </p:txBody>
      </p:sp>
      <p:sp>
        <p:nvSpPr>
          <p:cNvPr id="175" name="Google Shape;175;p22"/>
          <p:cNvSpPr txBox="1"/>
          <p:nvPr/>
        </p:nvSpPr>
        <p:spPr>
          <a:xfrm>
            <a:off x="3999000" y="4061800"/>
            <a:ext cx="21834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libGL.so.1 is OS level graphics library required for packages like Open-CV to run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176" name="Google Shape;176;p22"/>
          <p:cNvCxnSpPr>
            <a:stCxn id="161" idx="2"/>
            <a:endCxn id="174" idx="0"/>
          </p:cNvCxnSpPr>
          <p:nvPr/>
        </p:nvCxnSpPr>
        <p:spPr>
          <a:xfrm flipH="1">
            <a:off x="5005550" y="2462450"/>
            <a:ext cx="1130400" cy="848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/>
          <p:nvPr/>
        </p:nvSpPr>
        <p:spPr>
          <a:xfrm>
            <a:off x="1924978" y="2396272"/>
            <a:ext cx="758100" cy="2238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flask 3.1.3</a:t>
            </a:r>
            <a:endParaRPr sz="561"/>
          </a:p>
        </p:txBody>
      </p:sp>
      <p:sp>
        <p:nvSpPr>
          <p:cNvPr id="182" name="Google Shape;182;p23"/>
          <p:cNvSpPr/>
          <p:nvPr/>
        </p:nvSpPr>
        <p:spPr>
          <a:xfrm>
            <a:off x="1119825" y="3015641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werkzeug 3.1.8</a:t>
            </a:r>
            <a:endParaRPr sz="561"/>
          </a:p>
        </p:txBody>
      </p:sp>
      <p:sp>
        <p:nvSpPr>
          <p:cNvPr id="183" name="Google Shape;183;p23"/>
          <p:cNvSpPr/>
          <p:nvPr/>
        </p:nvSpPr>
        <p:spPr>
          <a:xfrm>
            <a:off x="1925559" y="3015641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click 8.3.2</a:t>
            </a:r>
            <a:endParaRPr sz="561"/>
          </a:p>
        </p:txBody>
      </p:sp>
      <p:sp>
        <p:nvSpPr>
          <p:cNvPr id="184" name="Google Shape;184;p23"/>
          <p:cNvSpPr/>
          <p:nvPr/>
        </p:nvSpPr>
        <p:spPr>
          <a:xfrm>
            <a:off x="2731293" y="3015641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blinker 1.9.0</a:t>
            </a:r>
            <a:endParaRPr sz="561"/>
          </a:p>
        </p:txBody>
      </p:sp>
      <p:cxnSp>
        <p:nvCxnSpPr>
          <p:cNvPr id="185" name="Google Shape;185;p23"/>
          <p:cNvCxnSpPr>
            <a:stCxn id="181" idx="1"/>
            <a:endCxn id="182" idx="0"/>
          </p:cNvCxnSpPr>
          <p:nvPr/>
        </p:nvCxnSpPr>
        <p:spPr>
          <a:xfrm flipH="1">
            <a:off x="1450378" y="2508172"/>
            <a:ext cx="474600" cy="507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6" name="Google Shape;186;p23"/>
          <p:cNvCxnSpPr>
            <a:stCxn id="181" idx="2"/>
            <a:endCxn id="183" idx="0"/>
          </p:cNvCxnSpPr>
          <p:nvPr/>
        </p:nvCxnSpPr>
        <p:spPr>
          <a:xfrm flipH="1">
            <a:off x="2256028" y="2620072"/>
            <a:ext cx="48000" cy="3957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" name="Google Shape;187;p23"/>
          <p:cNvCxnSpPr>
            <a:stCxn id="181" idx="3"/>
            <a:endCxn id="184" idx="0"/>
          </p:cNvCxnSpPr>
          <p:nvPr/>
        </p:nvCxnSpPr>
        <p:spPr>
          <a:xfrm>
            <a:off x="2683078" y="2508172"/>
            <a:ext cx="378600" cy="5076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8" name="Google Shape;188;p23"/>
          <p:cNvCxnSpPr>
            <a:stCxn id="182" idx="2"/>
          </p:cNvCxnSpPr>
          <p:nvPr/>
        </p:nvCxnSpPr>
        <p:spPr>
          <a:xfrm>
            <a:off x="1450275" y="3192641"/>
            <a:ext cx="134700" cy="3729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23"/>
          <p:cNvCxnSpPr>
            <a:stCxn id="183" idx="2"/>
          </p:cNvCxnSpPr>
          <p:nvPr/>
        </p:nvCxnSpPr>
        <p:spPr>
          <a:xfrm flipH="1">
            <a:off x="1724409" y="3192641"/>
            <a:ext cx="531600" cy="372900"/>
          </a:xfrm>
          <a:prstGeom prst="straightConnector1">
            <a:avLst/>
          </a:prstGeom>
          <a:noFill/>
          <a:ln cap="flat" cmpd="sng" w="38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23"/>
          <p:cNvSpPr/>
          <p:nvPr/>
        </p:nvSpPr>
        <p:spPr>
          <a:xfrm>
            <a:off x="1304125" y="3565444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jinja2 3.1.6</a:t>
            </a:r>
            <a:endParaRPr sz="561"/>
          </a:p>
        </p:txBody>
      </p:sp>
      <p:sp>
        <p:nvSpPr>
          <p:cNvPr id="191" name="Google Shape;191;p23"/>
          <p:cNvSpPr txBox="1"/>
          <p:nvPr/>
        </p:nvSpPr>
        <p:spPr>
          <a:xfrm>
            <a:off x="4811325" y="1210613"/>
            <a:ext cx="19464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3652600" y="1127063"/>
            <a:ext cx="1946400" cy="49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Python Project</a:t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4246740" y="2396272"/>
            <a:ext cx="758100" cy="2238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requests 2.33.0</a:t>
            </a:r>
            <a:endParaRPr sz="561"/>
          </a:p>
        </p:txBody>
      </p:sp>
      <p:sp>
        <p:nvSpPr>
          <p:cNvPr id="194" name="Google Shape;194;p23"/>
          <p:cNvSpPr/>
          <p:nvPr/>
        </p:nvSpPr>
        <p:spPr>
          <a:xfrm>
            <a:off x="3823862" y="3056686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urllib3 2.6.3</a:t>
            </a:r>
            <a:endParaRPr sz="561"/>
          </a:p>
        </p:txBody>
      </p:sp>
      <p:sp>
        <p:nvSpPr>
          <p:cNvPr id="195" name="Google Shape;195;p23"/>
          <p:cNvSpPr/>
          <p:nvPr/>
        </p:nvSpPr>
        <p:spPr>
          <a:xfrm>
            <a:off x="4691247" y="3056686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certifi 2026.2.25</a:t>
            </a:r>
            <a:endParaRPr sz="561"/>
          </a:p>
        </p:txBody>
      </p:sp>
      <p:cxnSp>
        <p:nvCxnSpPr>
          <p:cNvPr id="196" name="Google Shape;196;p23"/>
          <p:cNvCxnSpPr>
            <a:stCxn id="193" idx="2"/>
            <a:endCxn id="194" idx="0"/>
          </p:cNvCxnSpPr>
          <p:nvPr/>
        </p:nvCxnSpPr>
        <p:spPr>
          <a:xfrm flipH="1">
            <a:off x="4154190" y="2620072"/>
            <a:ext cx="471600" cy="4365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7" name="Google Shape;197;p23"/>
          <p:cNvCxnSpPr>
            <a:stCxn id="193" idx="2"/>
            <a:endCxn id="195" idx="0"/>
          </p:cNvCxnSpPr>
          <p:nvPr/>
        </p:nvCxnSpPr>
        <p:spPr>
          <a:xfrm>
            <a:off x="4625790" y="2620072"/>
            <a:ext cx="396000" cy="4365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8" name="Google Shape;198;p23"/>
          <p:cNvSpPr/>
          <p:nvPr/>
        </p:nvSpPr>
        <p:spPr>
          <a:xfrm>
            <a:off x="3319767" y="3839445"/>
            <a:ext cx="660900" cy="1770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schedule 1.2.1</a:t>
            </a:r>
            <a:endParaRPr sz="561"/>
          </a:p>
        </p:txBody>
      </p:sp>
      <p:cxnSp>
        <p:nvCxnSpPr>
          <p:cNvPr id="199" name="Google Shape;199;p23"/>
          <p:cNvCxnSpPr>
            <a:stCxn id="184" idx="2"/>
            <a:endCxn id="198" idx="0"/>
          </p:cNvCxnSpPr>
          <p:nvPr/>
        </p:nvCxnSpPr>
        <p:spPr>
          <a:xfrm>
            <a:off x="3061743" y="3192641"/>
            <a:ext cx="588600" cy="6468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3"/>
          <p:cNvCxnSpPr>
            <a:stCxn id="195" idx="2"/>
            <a:endCxn id="198" idx="0"/>
          </p:cNvCxnSpPr>
          <p:nvPr/>
        </p:nvCxnSpPr>
        <p:spPr>
          <a:xfrm flipH="1">
            <a:off x="3650097" y="3233686"/>
            <a:ext cx="1371600" cy="6057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3"/>
          <p:cNvCxnSpPr>
            <a:stCxn id="192" idx="2"/>
            <a:endCxn id="181" idx="0"/>
          </p:cNvCxnSpPr>
          <p:nvPr/>
        </p:nvCxnSpPr>
        <p:spPr>
          <a:xfrm flipH="1">
            <a:off x="2304100" y="1624163"/>
            <a:ext cx="2321700" cy="7722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3"/>
          <p:cNvCxnSpPr>
            <a:stCxn id="192" idx="2"/>
            <a:endCxn id="193" idx="0"/>
          </p:cNvCxnSpPr>
          <p:nvPr/>
        </p:nvCxnSpPr>
        <p:spPr>
          <a:xfrm>
            <a:off x="4625800" y="1624163"/>
            <a:ext cx="0" cy="7722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3" name="Google Shape;203;p23"/>
          <p:cNvSpPr/>
          <p:nvPr/>
        </p:nvSpPr>
        <p:spPr>
          <a:xfrm>
            <a:off x="3125824" y="2384471"/>
            <a:ext cx="758100" cy="223800"/>
          </a:xfrm>
          <a:prstGeom prst="rect">
            <a:avLst/>
          </a:prstGeom>
          <a:solidFill>
            <a:schemeClr val="lt2"/>
          </a:solidFill>
          <a:ln cap="flat" cmpd="sng" w="3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625" lIns="36625" spcFirstLastPara="1" rIns="36625" wrap="square" tIns="36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61"/>
              <a:t>tqdm 4.66.3</a:t>
            </a:r>
            <a:endParaRPr sz="561"/>
          </a:p>
        </p:txBody>
      </p:sp>
      <p:cxnSp>
        <p:nvCxnSpPr>
          <p:cNvPr id="204" name="Google Shape;204;p23"/>
          <p:cNvCxnSpPr>
            <a:stCxn id="192" idx="2"/>
            <a:endCxn id="203" idx="0"/>
          </p:cNvCxnSpPr>
          <p:nvPr/>
        </p:nvCxnSpPr>
        <p:spPr>
          <a:xfrm flipH="1">
            <a:off x="3505000" y="1624163"/>
            <a:ext cx="1120800" cy="760200"/>
          </a:xfrm>
          <a:prstGeom prst="straightConnector1">
            <a:avLst/>
          </a:prstGeom>
          <a:noFill/>
          <a:ln cap="flat" cmpd="sng" w="62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5" name="Google Shape;205;p23"/>
          <p:cNvSpPr txBox="1"/>
          <p:nvPr/>
        </p:nvSpPr>
        <p:spPr>
          <a:xfrm>
            <a:off x="5491475" y="1918038"/>
            <a:ext cx="1266300" cy="3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6370275" y="1425038"/>
            <a:ext cx="1266300" cy="43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</a:t>
            </a:r>
            <a:endParaRPr/>
          </a:p>
        </p:txBody>
      </p:sp>
      <p:cxnSp>
        <p:nvCxnSpPr>
          <p:cNvPr id="207" name="Google Shape;207;p23"/>
          <p:cNvCxnSpPr>
            <a:stCxn id="192" idx="3"/>
            <a:endCxn id="206" idx="1"/>
          </p:cNvCxnSpPr>
          <p:nvPr/>
        </p:nvCxnSpPr>
        <p:spPr>
          <a:xfrm>
            <a:off x="5599000" y="1375613"/>
            <a:ext cx="771300" cy="26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8" name="Google Shape;208;p23"/>
          <p:cNvSpPr/>
          <p:nvPr/>
        </p:nvSpPr>
        <p:spPr>
          <a:xfrm>
            <a:off x="5895500" y="2347438"/>
            <a:ext cx="1266300" cy="267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Config</a:t>
            </a:r>
            <a:endParaRPr/>
          </a:p>
        </p:txBody>
      </p:sp>
      <p:cxnSp>
        <p:nvCxnSpPr>
          <p:cNvPr id="209" name="Google Shape;209;p23"/>
          <p:cNvCxnSpPr>
            <a:stCxn id="192" idx="2"/>
            <a:endCxn id="208" idx="0"/>
          </p:cNvCxnSpPr>
          <p:nvPr/>
        </p:nvCxnSpPr>
        <p:spPr>
          <a:xfrm>
            <a:off x="4625800" y="1624163"/>
            <a:ext cx="1902900" cy="72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1069179" y="1502941"/>
            <a:ext cx="934200" cy="2760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flask 3.1.3</a:t>
            </a:r>
            <a:endParaRPr sz="691"/>
          </a:p>
        </p:txBody>
      </p:sp>
      <p:sp>
        <p:nvSpPr>
          <p:cNvPr id="215" name="Google Shape;215;p24"/>
          <p:cNvSpPr/>
          <p:nvPr/>
        </p:nvSpPr>
        <p:spPr>
          <a:xfrm>
            <a:off x="77075" y="2266124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werkzeug 3.1.8</a:t>
            </a:r>
            <a:endParaRPr sz="691"/>
          </a:p>
        </p:txBody>
      </p:sp>
      <p:sp>
        <p:nvSpPr>
          <p:cNvPr id="216" name="Google Shape;216;p24"/>
          <p:cNvSpPr/>
          <p:nvPr/>
        </p:nvSpPr>
        <p:spPr>
          <a:xfrm>
            <a:off x="1069895" y="2266124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click 8.3.2</a:t>
            </a:r>
            <a:endParaRPr sz="691"/>
          </a:p>
        </p:txBody>
      </p:sp>
      <p:sp>
        <p:nvSpPr>
          <p:cNvPr id="217" name="Google Shape;217;p24"/>
          <p:cNvSpPr/>
          <p:nvPr/>
        </p:nvSpPr>
        <p:spPr>
          <a:xfrm>
            <a:off x="2062715" y="2266124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blinker 1.9.0</a:t>
            </a:r>
            <a:endParaRPr sz="691"/>
          </a:p>
        </p:txBody>
      </p:sp>
      <p:cxnSp>
        <p:nvCxnSpPr>
          <p:cNvPr id="218" name="Google Shape;218;p24"/>
          <p:cNvCxnSpPr>
            <a:stCxn id="214" idx="1"/>
            <a:endCxn id="215" idx="0"/>
          </p:cNvCxnSpPr>
          <p:nvPr/>
        </p:nvCxnSpPr>
        <p:spPr>
          <a:xfrm flipH="1">
            <a:off x="484179" y="1640941"/>
            <a:ext cx="585000" cy="625200"/>
          </a:xfrm>
          <a:prstGeom prst="straightConnector1">
            <a:avLst/>
          </a:prstGeom>
          <a:noFill/>
          <a:ln cap="flat" cmpd="sng" w="4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24"/>
          <p:cNvCxnSpPr>
            <a:stCxn id="214" idx="2"/>
            <a:endCxn id="216" idx="0"/>
          </p:cNvCxnSpPr>
          <p:nvPr/>
        </p:nvCxnSpPr>
        <p:spPr>
          <a:xfrm flipH="1">
            <a:off x="1477179" y="1778941"/>
            <a:ext cx="59100" cy="487200"/>
          </a:xfrm>
          <a:prstGeom prst="straightConnector1">
            <a:avLst/>
          </a:prstGeom>
          <a:noFill/>
          <a:ln cap="flat" cmpd="sng" w="4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4"/>
          <p:cNvCxnSpPr>
            <a:stCxn id="214" idx="3"/>
            <a:endCxn id="217" idx="0"/>
          </p:cNvCxnSpPr>
          <p:nvPr/>
        </p:nvCxnSpPr>
        <p:spPr>
          <a:xfrm>
            <a:off x="2003379" y="1640941"/>
            <a:ext cx="466500" cy="625200"/>
          </a:xfrm>
          <a:prstGeom prst="straightConnector1">
            <a:avLst/>
          </a:prstGeom>
          <a:noFill/>
          <a:ln cap="flat" cmpd="sng" w="4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1" name="Google Shape;221;p24"/>
          <p:cNvCxnSpPr>
            <a:stCxn id="215" idx="2"/>
          </p:cNvCxnSpPr>
          <p:nvPr/>
        </p:nvCxnSpPr>
        <p:spPr>
          <a:xfrm>
            <a:off x="484325" y="2484224"/>
            <a:ext cx="166200" cy="459600"/>
          </a:xfrm>
          <a:prstGeom prst="straightConnector1">
            <a:avLst/>
          </a:prstGeom>
          <a:noFill/>
          <a:ln cap="flat" cmpd="sng" w="4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2" name="Google Shape;222;p24"/>
          <p:cNvCxnSpPr>
            <a:stCxn id="216" idx="2"/>
          </p:cNvCxnSpPr>
          <p:nvPr/>
        </p:nvCxnSpPr>
        <p:spPr>
          <a:xfrm flipH="1">
            <a:off x="822245" y="2484224"/>
            <a:ext cx="654900" cy="459600"/>
          </a:xfrm>
          <a:prstGeom prst="straightConnector1">
            <a:avLst/>
          </a:prstGeom>
          <a:noFill/>
          <a:ln cap="flat" cmpd="sng" w="4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3" name="Google Shape;223;p24"/>
          <p:cNvSpPr/>
          <p:nvPr/>
        </p:nvSpPr>
        <p:spPr>
          <a:xfrm>
            <a:off x="304168" y="2943587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jinja2 3.1.6</a:t>
            </a:r>
            <a:endParaRPr sz="691"/>
          </a:p>
        </p:txBody>
      </p:sp>
      <p:sp>
        <p:nvSpPr>
          <p:cNvPr id="224" name="Google Shape;224;p24"/>
          <p:cNvSpPr txBox="1"/>
          <p:nvPr/>
        </p:nvSpPr>
        <p:spPr>
          <a:xfrm>
            <a:off x="3073809" y="289900"/>
            <a:ext cx="15801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74225" lIns="74225" spcFirstLastPara="1" rIns="74225" wrap="square" tIns="74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61">
              <a:solidFill>
                <a:schemeClr val="dk2"/>
              </a:solidFill>
            </a:endParaRPr>
          </a:p>
        </p:txBody>
      </p:sp>
      <p:sp>
        <p:nvSpPr>
          <p:cNvPr id="225" name="Google Shape;225;p24"/>
          <p:cNvSpPr/>
          <p:nvPr/>
        </p:nvSpPr>
        <p:spPr>
          <a:xfrm>
            <a:off x="2145950" y="365092"/>
            <a:ext cx="1580100" cy="403500"/>
          </a:xfrm>
          <a:prstGeom prst="rect">
            <a:avLst/>
          </a:prstGeom>
          <a:solidFill>
            <a:schemeClr val="lt2"/>
          </a:solidFill>
          <a:ln cap="flat" cmpd="sng" w="7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225" lIns="74225" spcFirstLastPara="1" rIns="74225" wrap="square" tIns="742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37"/>
              <a:t>Python Project</a:t>
            </a:r>
            <a:endParaRPr sz="1137"/>
          </a:p>
        </p:txBody>
      </p:sp>
      <p:sp>
        <p:nvSpPr>
          <p:cNvPr id="226" name="Google Shape;226;p24"/>
          <p:cNvSpPr/>
          <p:nvPr/>
        </p:nvSpPr>
        <p:spPr>
          <a:xfrm>
            <a:off x="3930040" y="1502941"/>
            <a:ext cx="934200" cy="2760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requests 2.33.0</a:t>
            </a:r>
            <a:endParaRPr sz="691"/>
          </a:p>
        </p:txBody>
      </p:sp>
      <p:sp>
        <p:nvSpPr>
          <p:cNvPr id="227" name="Google Shape;227;p24"/>
          <p:cNvSpPr/>
          <p:nvPr/>
        </p:nvSpPr>
        <p:spPr>
          <a:xfrm>
            <a:off x="3408973" y="2316698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urllib3 2.6.3</a:t>
            </a:r>
            <a:endParaRPr sz="691"/>
          </a:p>
        </p:txBody>
      </p:sp>
      <p:sp>
        <p:nvSpPr>
          <p:cNvPr id="228" name="Google Shape;228;p24"/>
          <p:cNvSpPr/>
          <p:nvPr/>
        </p:nvSpPr>
        <p:spPr>
          <a:xfrm>
            <a:off x="4477759" y="2316698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certifi 2026.2.25</a:t>
            </a:r>
            <a:endParaRPr sz="691"/>
          </a:p>
        </p:txBody>
      </p:sp>
      <p:cxnSp>
        <p:nvCxnSpPr>
          <p:cNvPr id="229" name="Google Shape;229;p24"/>
          <p:cNvCxnSpPr>
            <a:stCxn id="226" idx="2"/>
            <a:endCxn id="227" idx="0"/>
          </p:cNvCxnSpPr>
          <p:nvPr/>
        </p:nvCxnSpPr>
        <p:spPr>
          <a:xfrm flipH="1">
            <a:off x="3816340" y="1778941"/>
            <a:ext cx="580800" cy="5379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24"/>
          <p:cNvCxnSpPr>
            <a:stCxn id="226" idx="2"/>
            <a:endCxn id="228" idx="0"/>
          </p:cNvCxnSpPr>
          <p:nvPr/>
        </p:nvCxnSpPr>
        <p:spPr>
          <a:xfrm>
            <a:off x="4397140" y="1778941"/>
            <a:ext cx="487800" cy="5379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4"/>
          <p:cNvSpPr/>
          <p:nvPr/>
        </p:nvSpPr>
        <p:spPr>
          <a:xfrm>
            <a:off x="2787829" y="3281209"/>
            <a:ext cx="814500" cy="2181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schedule 1.2.1</a:t>
            </a:r>
            <a:endParaRPr sz="691"/>
          </a:p>
        </p:txBody>
      </p:sp>
      <p:cxnSp>
        <p:nvCxnSpPr>
          <p:cNvPr id="232" name="Google Shape;232;p24"/>
          <p:cNvCxnSpPr>
            <a:stCxn id="217" idx="2"/>
            <a:endCxn id="231" idx="0"/>
          </p:cNvCxnSpPr>
          <p:nvPr/>
        </p:nvCxnSpPr>
        <p:spPr>
          <a:xfrm>
            <a:off x="2469965" y="2484224"/>
            <a:ext cx="725100" cy="7971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3" name="Google Shape;233;p24"/>
          <p:cNvCxnSpPr>
            <a:stCxn id="228" idx="2"/>
            <a:endCxn id="231" idx="0"/>
          </p:cNvCxnSpPr>
          <p:nvPr/>
        </p:nvCxnSpPr>
        <p:spPr>
          <a:xfrm flipH="1">
            <a:off x="3195109" y="2534798"/>
            <a:ext cx="1689900" cy="7464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4" name="Google Shape;234;p24"/>
          <p:cNvCxnSpPr>
            <a:stCxn id="225" idx="2"/>
            <a:endCxn id="214" idx="0"/>
          </p:cNvCxnSpPr>
          <p:nvPr/>
        </p:nvCxnSpPr>
        <p:spPr>
          <a:xfrm flipH="1">
            <a:off x="1536200" y="768592"/>
            <a:ext cx="1399800" cy="7344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24"/>
          <p:cNvCxnSpPr>
            <a:stCxn id="225" idx="2"/>
            <a:endCxn id="226" idx="0"/>
          </p:cNvCxnSpPr>
          <p:nvPr/>
        </p:nvCxnSpPr>
        <p:spPr>
          <a:xfrm>
            <a:off x="2936000" y="768592"/>
            <a:ext cx="1461000" cy="7344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6" name="Google Shape;236;p24"/>
          <p:cNvSpPr/>
          <p:nvPr/>
        </p:nvSpPr>
        <p:spPr>
          <a:xfrm>
            <a:off x="2548855" y="1488399"/>
            <a:ext cx="934200" cy="276000"/>
          </a:xfrm>
          <a:prstGeom prst="rect">
            <a:avLst/>
          </a:prstGeom>
          <a:solidFill>
            <a:schemeClr val="lt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125" lIns="45125" spcFirstLastPara="1" rIns="45125" wrap="square" tIns="451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691"/>
              <a:t>tqdm 4.66.3</a:t>
            </a:r>
            <a:endParaRPr sz="691"/>
          </a:p>
        </p:txBody>
      </p:sp>
      <p:cxnSp>
        <p:nvCxnSpPr>
          <p:cNvPr id="237" name="Google Shape;237;p24"/>
          <p:cNvCxnSpPr>
            <a:stCxn id="225" idx="2"/>
            <a:endCxn id="236" idx="0"/>
          </p:cNvCxnSpPr>
          <p:nvPr/>
        </p:nvCxnSpPr>
        <p:spPr>
          <a:xfrm>
            <a:off x="2936000" y="768592"/>
            <a:ext cx="80100" cy="719700"/>
          </a:xfrm>
          <a:prstGeom prst="straightConnector1">
            <a:avLst/>
          </a:prstGeom>
          <a:noFill/>
          <a:ln cap="flat" cmpd="sng" w="77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8" name="Google Shape;238;p24"/>
          <p:cNvSpPr txBox="1"/>
          <p:nvPr/>
        </p:nvSpPr>
        <p:spPr>
          <a:xfrm>
            <a:off x="6404875" y="571500"/>
            <a:ext cx="2739000" cy="27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Pip install schedule 1.2.1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Pip install jinja2 3.1.6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Pip install click 8.3.2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……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Pytest run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5311246" y="1640900"/>
            <a:ext cx="934200" cy="21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3789950" y="3990475"/>
            <a:ext cx="4181100" cy="5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Converts the graph topologically into a build script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use a build script:</a:t>
            </a:r>
            <a:endParaRPr/>
          </a:p>
        </p:txBody>
      </p:sp>
      <p:sp>
        <p:nvSpPr>
          <p:cNvPr id="246" name="Google Shape;24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Serves as an artifact for installation. Rather than trying different commands installs in the container. Easier to manage and debug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Allows an agent to have a “global” view of the installation process, rather than looking back in agent past history, which can get bloated.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Because we are editing one file, its is reproducible, making the final re-usable dockerfile generation easier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/>
          <p:nvPr/>
        </p:nvSpPr>
        <p:spPr>
          <a:xfrm>
            <a:off x="279400" y="1094100"/>
            <a:ext cx="3884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highlight>
                  <a:srgbClr val="00FF00"/>
                </a:highlight>
              </a:rPr>
              <a:t>Pip install schedule 1.2.1 -&gt; correct</a:t>
            </a:r>
            <a:endParaRPr sz="1800">
              <a:solidFill>
                <a:schemeClr val="dk2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highlight>
                  <a:srgbClr val="00FF00"/>
                </a:highlight>
              </a:rPr>
              <a:t>Pip install jinja2 3.1.6 -&gt; correct</a:t>
            </a:r>
            <a:endParaRPr sz="1800">
              <a:solidFill>
                <a:schemeClr val="dk2"/>
              </a:solidFill>
              <a:highlight>
                <a:srgbClr val="00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highlight>
                  <a:srgbClr val="FF0000"/>
                </a:highlight>
              </a:rPr>
              <a:t>Pip install click 8.3.2 -&gt; incorrect </a:t>
            </a:r>
            <a:endParaRPr sz="1800">
              <a:solidFill>
                <a:schemeClr val="dk2"/>
              </a:solidFill>
              <a:highlight>
                <a:srgbClr val="FF00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……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Pytest run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2" name="Google Shape;252;p26"/>
          <p:cNvCxnSpPr/>
          <p:nvPr/>
        </p:nvCxnSpPr>
        <p:spPr>
          <a:xfrm flipH="1" rot="10800000">
            <a:off x="3737425" y="2404000"/>
            <a:ext cx="14514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3" name="Google Shape;253;p26"/>
          <p:cNvSpPr/>
          <p:nvPr/>
        </p:nvSpPr>
        <p:spPr>
          <a:xfrm>
            <a:off x="5370275" y="1800700"/>
            <a:ext cx="2775900" cy="1215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Agent: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Fix the build script</a:t>
            </a:r>
            <a:endParaRPr/>
          </a:p>
        </p:txBody>
      </p:sp>
      <p:sp>
        <p:nvSpPr>
          <p:cNvPr id="254" name="Google Shape;254;p26"/>
          <p:cNvSpPr txBox="1"/>
          <p:nvPr/>
        </p:nvSpPr>
        <p:spPr>
          <a:xfrm>
            <a:off x="3846300" y="1977575"/>
            <a:ext cx="1451400" cy="3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Error message</a:t>
            </a:r>
            <a:endParaRPr sz="1200">
              <a:solidFill>
                <a:schemeClr val="dk2"/>
              </a:solidFill>
            </a:endParaRPr>
          </a:p>
        </p:txBody>
      </p:sp>
      <p:cxnSp>
        <p:nvCxnSpPr>
          <p:cNvPr id="255" name="Google Shape;255;p26"/>
          <p:cNvCxnSpPr>
            <a:stCxn id="253" idx="3"/>
          </p:cNvCxnSpPr>
          <p:nvPr/>
        </p:nvCxnSpPr>
        <p:spPr>
          <a:xfrm rot="10800000">
            <a:off x="3731396" y="2828080"/>
            <a:ext cx="2045400" cy="10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6" name="Google Shape;256;p26"/>
          <p:cNvSpPr txBox="1"/>
          <p:nvPr/>
        </p:nvSpPr>
        <p:spPr>
          <a:xfrm>
            <a:off x="3927825" y="2838275"/>
            <a:ext cx="2395800" cy="2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</a:rPr>
              <a:t>Build script patch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257" name="Google Shape;257;p26"/>
          <p:cNvSpPr txBox="1"/>
          <p:nvPr/>
        </p:nvSpPr>
        <p:spPr>
          <a:xfrm>
            <a:off x="279400" y="520425"/>
            <a:ext cx="31815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Pytest run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2" name="Google Shape;262;p27"/>
          <p:cNvGraphicFramePr/>
          <p:nvPr/>
        </p:nvGraphicFramePr>
        <p:xfrm>
          <a:off x="911500" y="6389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{7B8B0F9D-2C97-4F62-9EEF-1762C37F4BE6}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Method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ESSR (RAT) / Exec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ESSR / 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EBSR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0.789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0.684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0.867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Repo2Run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0.708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0.378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0.533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Google Shape;267;p28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{7B8B0F9D-2C97-4F62-9EEF-1762C37F4BE6}</a:tableStyleId>
              </a:tblPr>
              <a:tblGrid>
                <a:gridCol w="1809750"/>
                <a:gridCol w="2161525"/>
                <a:gridCol w="1457975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Method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Avg Token / Success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Avg Token / 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Total tokens used / 15 repo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RAT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243k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370k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5.6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Repo2Run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85k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378k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5.3 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